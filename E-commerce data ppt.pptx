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embeddedFontLst>
    <p:embeddedFont>
      <p:font typeface="Crimson Pro SemiBold"/>
      <p:regular r:id="rId201314"/>
    </p:embeddedFont>
    <p:embeddedFont>
      <p:font typeface="Heebo"/>
      <p:regular r:id="rId201315"/>
    </p:embeddedFont>
    <p:embeddedFont>
      <p:font typeface="Heebo Medium"/>
      <p:regular r:id="rId201316"/>
    </p:embeddedFont>
    <p:embeddedFont>
      <p:font typeface="Heebo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598414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1858070"/>
            <a:ext cx="10972526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Turn strong e-commerce activity into a more durable growth engine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997299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259237"/>
            <a:ext cx="337811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Sales performance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3649960"/>
            <a:ext cx="3378115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See where momentum is real, seasonal, or at risk of fading.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46486" y="3259237"/>
            <a:ext cx="3098722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Customer behavior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46486" y="3649960"/>
            <a:ext cx="3098722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Understand repeat purchasing, value, and retention opportunities.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03995" y="3259237"/>
            <a:ext cx="3378115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Product and growth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03995" y="3649960"/>
            <a:ext cx="3378115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Find winning products, leakage, and the next markets to test.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5" y="4274641"/>
            <a:ext cx="10972526" cy="984845"/>
          </a:xfrm>
          <a:prstGeom prst="roundRect">
            <a:avLst>
              <a:gd name="adj" fmla="val 9284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3578" y="4477841"/>
            <a:ext cx="10464538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Management question: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which parts of the revenue mix can hold beyond the peak, and where should the business act next?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260743" y="3259237"/>
            <a:ext cx="12700" cy="786805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4" name="Shape 12"/>
          <p:cNvSpPr/>
          <p:nvPr/>
        </p:nvSpPr>
        <p:spPr>
          <a:xfrm>
            <a:off x="7918252" y="3259237"/>
            <a:ext cx="12700" cy="786805"/>
          </a:xfrm>
          <a:prstGeom prst="rect">
            <a:avLst/>
          </a:prstGeom>
          <a:solidFill>
            <a:srgbClr val="F0F0F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DATA &amp;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Move from raw transactions to decisions in five simple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7777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839714"/>
            <a:ext cx="2016670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Raw data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230438"/>
            <a:ext cx="201667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b="1" spc="12" kern="0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541,909</a:t>
            </a:r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records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8 original columns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81846" y="1839714"/>
            <a:ext cx="183887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981846" y="2230438"/>
            <a:ext cx="1838874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Remove invalid, cancelled, duplicate, blank, and non-commercial lines.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176311" y="1839714"/>
            <a:ext cx="183897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Prepare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176311" y="2230438"/>
            <a:ext cx="1838974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Standardize fields and create Total Amount = Quantity × Unit Price.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70876" y="1839714"/>
            <a:ext cx="183887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Analyze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70876" y="2230438"/>
            <a:ext cx="1838874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Review sales, orders, customers, products, countries, and cancellations.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565341" y="1839714"/>
            <a:ext cx="2016769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Insights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565341" y="2230438"/>
            <a:ext cx="2016769" cy="594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Translate patterns into management actions and tests.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5" y="3251200"/>
            <a:ext cx="10972526" cy="695623"/>
          </a:xfrm>
          <a:prstGeom prst="roundRect">
            <a:avLst>
              <a:gd name="adj" fmla="val 13145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578" y="3454400"/>
            <a:ext cx="11074123" cy="2892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Project footprint: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25,900 invoices · 4,070 unique stock codes · 4,223 product descriptions · 38 countries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797700" y="1839714"/>
            <a:ext cx="12700" cy="1182886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8" name="Shape 16"/>
          <p:cNvSpPr/>
          <p:nvPr/>
        </p:nvSpPr>
        <p:spPr>
          <a:xfrm>
            <a:off x="4992166" y="1839714"/>
            <a:ext cx="12700" cy="1182886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6730" y="1839714"/>
            <a:ext cx="12700" cy="1182886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1196" y="1839714"/>
            <a:ext cx="12700" cy="1182886"/>
          </a:xfrm>
          <a:prstGeom prst="rect">
            <a:avLst/>
          </a:prstGeom>
          <a:solidFill>
            <a:srgbClr val="F0F0F1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Growth is visible, but the mix is concentrated and should be managed deliberately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08485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95823"/>
            <a:ext cx="6857828" cy="298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5372398"/>
            <a:ext cx="761980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Revenue peaks at £1.46M in November; December 2011* is partial.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29394" y="2727623"/>
            <a:ext cx="3962301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EVIDENCE SNAPSHOT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394" y="2987278"/>
            <a:ext cx="3352716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£8.19M from repeat customers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394" y="3418384"/>
            <a:ext cx="3352716" cy="1868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 customers contributed 92.9% of clean product sales among identified customers.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Geography: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UK contributes 84.9%. </a:t>
            </a:r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Product: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leading product generated £174K.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229394" y="5420420"/>
            <a:ext cx="3352716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Use [Top Product] and [Top Country] when a final ranked label is required.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18252" y="2295823"/>
            <a:ext cx="12700" cy="3952577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DEEP-DIVE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30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Repeat purchasing is the clearest value lever in the dataset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77777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65114"/>
            <a:ext cx="6857828" cy="298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4941689"/>
            <a:ext cx="7375936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Repeat customers contributed £8.19M versus £0.62M from one-time customers among identified customers.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95105" y="1865114"/>
            <a:ext cx="359659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WHAT IT MEANS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595105" y="2124770"/>
            <a:ext cx="2987005" cy="538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Protect the repeat-purchase journey first.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595105" y="2825055"/>
            <a:ext cx="2987005" cy="3737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2,837 of 4,338 identified customers placed more than one order.</a:t>
            </a:r>
            <a:endParaRPr lang="en-US" sz="1700" dirty="0"/>
          </a:p>
          <a:p>
            <a:pPr algn="l"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top 10 customers contributed 17.3% of clean product sales, suggesting value is broader than a tiny account set.</a:t>
            </a:r>
            <a:endParaRPr lang="en-US" sz="17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Management action: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build retention and replenishment tests before scaling broad acquisition.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283963" y="1865114"/>
            <a:ext cx="12700" cy="4697313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Prioritize retention, selective growth, product focus, and better planning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3377902"/>
            <a:ext cx="2016670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Retain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09585" y="3809008"/>
            <a:ext cx="2016670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Trigger post-purchase follow-up and replenishment journeys for high-value customers.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81846" y="3377902"/>
            <a:ext cx="1838874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Scale winners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981846" y="3809008"/>
            <a:ext cx="1838874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Prioritize high-performing products and test bundles around proven product families.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76311" y="3377902"/>
            <a:ext cx="1838974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Fix the tail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176311" y="3809008"/>
            <a:ext cx="1838974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Review low-performing products, cancellations, and avoidable operational leakage.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70876" y="3377902"/>
            <a:ext cx="1838874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 regions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70876" y="3809008"/>
            <a:ext cx="1838874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Protect the UK core; test selected non-UK markets on repeat rate and contribution.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65341" y="3377902"/>
            <a:ext cx="2016769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Plan demand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565341" y="3809008"/>
            <a:ext cx="2016769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Use monthly seasonality and product demand to improve inventory and sales planning.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97700" y="3377902"/>
            <a:ext cx="12700" cy="1223268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5" name="Shape 13"/>
          <p:cNvSpPr/>
          <p:nvPr/>
        </p:nvSpPr>
        <p:spPr>
          <a:xfrm>
            <a:off x="4992166" y="3377902"/>
            <a:ext cx="12700" cy="1223268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186730" y="3377902"/>
            <a:ext cx="12700" cy="1223268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9381196" y="3377902"/>
            <a:ext cx="12700" cy="1223268"/>
          </a:xfrm>
          <a:prstGeom prst="rect">
            <a:avLst/>
          </a:prstGeom>
          <a:solidFill>
            <a:srgbClr val="F0F0F1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EXPECTED BUSINESS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Measure whether the recommendations create more valuable, repeatable growth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08485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70423"/>
            <a:ext cx="3428914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Revenue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09585" y="2661146"/>
            <a:ext cx="3428914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Track clean sales and repeat-customer revenue.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b="1" spc="12" kern="0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Target:</a:t>
            </a:r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[Target %]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95688" y="2270423"/>
            <a:ext cx="3200320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Average order value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95688" y="2661146"/>
            <a:ext cx="320032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Measure basket quality and cross-sell.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b="1" spc="12" kern="0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Target:</a:t>
            </a:r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[Target %]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53196" y="2270423"/>
            <a:ext cx="3200320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Retention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153196" y="2661146"/>
            <a:ext cx="3200320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Monitor repeat rate and repeat purchases.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b="1" spc="12" kern="0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Target:</a:t>
            </a:r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[Target %]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8179" y="3514427"/>
            <a:ext cx="10743931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700" spc="-17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Inventory efficiency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8179" y="3905151"/>
            <a:ext cx="10743931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Reduce avoidable cancellations and improve demand planning.</a:t>
            </a:r>
            <a:endParaRPr lang="en-US" sz="1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00" b="1" spc="12" kern="0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Target:</a:t>
            </a:r>
            <a:pPr algn="l" indent="0" marL="0">
              <a:lnSpc>
                <a:spcPct val="108000"/>
              </a:lnSpc>
              <a:buNone/>
            </a:pPr>
            <a:r>
              <a:rPr lang="en-US" sz="1200" spc="12" kern="0" dirty="0">
                <a:solidFill>
                  <a:srgbClr val="4C4C4D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 [Target %]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585" y="4529832"/>
            <a:ext cx="10972526" cy="934045"/>
          </a:xfrm>
          <a:prstGeom prst="roundRect">
            <a:avLst>
              <a:gd name="adj" fmla="val 9789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787380" y="4707632"/>
            <a:ext cx="10616934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90-day scorecard: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baseline the measures, run retention and market pilots, then compare results by month and customer cohort.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260743" y="2270423"/>
            <a:ext cx="12700" cy="1015405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6" name="Shape 14"/>
          <p:cNvSpPr/>
          <p:nvPr/>
        </p:nvSpPr>
        <p:spPr>
          <a:xfrm>
            <a:off x="7918252" y="2270423"/>
            <a:ext cx="12700" cy="1015405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17" name="Shape 15"/>
          <p:cNvSpPr/>
          <p:nvPr/>
        </p:nvSpPr>
        <p:spPr>
          <a:xfrm>
            <a:off x="609585" y="3279477"/>
            <a:ext cx="10972526" cy="12700"/>
          </a:xfrm>
          <a:prstGeom prst="rect">
            <a:avLst/>
          </a:prstGeom>
          <a:solidFill>
            <a:srgbClr val="F0F0F1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7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88" kern="0" dirty="0">
                <a:solidFill>
                  <a:srgbClr val="2150FE"/>
                </a:solidFill>
                <a:latin typeface="Heebo Medium" pitchFamily="34" charset="0"/>
                <a:ea typeface="Heebo Medium" pitchFamily="34" charset="-122"/>
                <a:cs typeface="Heebo Medium" pitchFamily="34" charset="-120"/>
              </a:rPr>
              <a:t>LIMITATIONS &amp; NEXT STEPS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861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200" spc="-32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Use the findings as a decision guide, then deepen the evidence before scaling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2008485"/>
            <a:ext cx="3620798" cy="31651"/>
          </a:xfrm>
          <a:prstGeom prst="roundRect">
            <a:avLst>
              <a:gd name="adj" fmla="val 49998"/>
            </a:avLst>
          </a:prstGeom>
          <a:solidFill>
            <a:srgbClr val="2150FE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295823"/>
            <a:ext cx="5181470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to keep in 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726928"/>
            <a:ext cx="5181470" cy="2253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135,080 CustomerID values are missing.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5,268 duplicate records were identified.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profit or margin information is available.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satisfaction and campaign data are unavailable.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Historical data may not reflect current market conditions.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640" y="2295823"/>
            <a:ext cx="5181470" cy="269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2000" spc="-20" kern="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to do next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640" y="2726928"/>
            <a:ext cx="5181470" cy="1617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Build profitability and customer-segmentation views.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Run retention and product-bundling analysis.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marketing effectiveness.</a:t>
            </a:r>
            <a:endParaRPr lang="en-US" sz="1700" dirty="0"/>
          </a:p>
          <a:p>
            <a:pPr algn="l" marL="345440" indent="-345440">
              <a:lnSpc>
                <a:spcPct val="112000"/>
              </a:lnSpc>
              <a:buSzPct val="100000"/>
              <a:buChar char="•"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an interactive management dashboard.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09585" y="5263555"/>
            <a:ext cx="10972526" cy="984845"/>
          </a:xfrm>
          <a:prstGeom prst="roundRect">
            <a:avLst>
              <a:gd name="adj" fmla="val 9284"/>
            </a:avLst>
          </a:prstGeom>
          <a:noFill/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80" y="5466755"/>
            <a:ext cx="10566136" cy="578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Decision guide:</a:t>
            </a:r>
            <a:pPr algn="l"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protect retention in the UK core, test selective international growth, and scale only after the evidence deepens.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089498" y="2295823"/>
            <a:ext cx="12700" cy="2789932"/>
          </a:xfrm>
          <a:prstGeom prst="rect">
            <a:avLst/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2026-09-11T16:43:03Z</dcterms:created>
  <dcterms:modified xsi:type="dcterms:W3CDTF">2026-09-11T16:43:03Z</dcterms:modified>
</cp:coreProperties>
</file>